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9" r:id="rId11"/>
    <p:sldId id="265" r:id="rId12"/>
    <p:sldId id="266" r:id="rId13"/>
    <p:sldId id="267" r:id="rId14"/>
    <p:sldId id="268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7" d="100"/>
          <a:sy n="67" d="100"/>
        </p:scale>
        <p:origin x="1476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datasets/blastchar/telco-customer-churn" TargetMode="External"/><Relationship Id="rId2" Type="http://schemas.openxmlformats.org/officeDocument/2006/relationships/hyperlink" Target="https://github.com/shreeya9094/Customer_Churn_Prediction_E2E_AI_ML_Project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28638" y="2394465"/>
            <a:ext cx="8301037" cy="714376"/>
          </a:xfrm>
        </p:spPr>
        <p:txBody>
          <a:bodyPr>
            <a:normAutofit fontScale="90000"/>
          </a:bodyPr>
          <a:lstStyle/>
          <a:p>
            <a:r>
              <a:rPr b="1" dirty="0">
                <a:solidFill>
                  <a:schemeClr val="accent3">
                    <a:lumMod val="50000"/>
                  </a:schemeClr>
                </a:solidFill>
              </a:rPr>
              <a:t>Customer Churn Prediction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64493" y="3034785"/>
            <a:ext cx="6029325" cy="714375"/>
          </a:xfrm>
        </p:spPr>
        <p:txBody>
          <a:bodyPr/>
          <a:lstStyle/>
          <a:p>
            <a:r>
              <a:rPr lang="en-US" dirty="0"/>
              <a:t>Using AI-ML and Deep Learning</a:t>
            </a:r>
            <a:endParaRPr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A273FBB-AC27-B354-6643-61DB18489964}"/>
              </a:ext>
            </a:extLst>
          </p:cNvPr>
          <p:cNvSpPr txBox="1"/>
          <p:nvPr/>
        </p:nvSpPr>
        <p:spPr>
          <a:xfrm>
            <a:off x="171452" y="4806851"/>
            <a:ext cx="8972548" cy="14343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2400" dirty="0"/>
              <a:t>By : Shreeya Dash</a:t>
            </a:r>
          </a:p>
          <a:p>
            <a:pPr>
              <a:lnSpc>
                <a:spcPct val="150000"/>
              </a:lnSpc>
            </a:pPr>
            <a:r>
              <a:rPr lang="en-US" dirty="0">
                <a:hlinkClick r:id="rId2"/>
              </a:rPr>
              <a:t>https://github.com/shreeya9094/Customer_Churn_Prediction_E2E_AI_ML_Project</a:t>
            </a:r>
            <a:endParaRPr lang="en-US" dirty="0"/>
          </a:p>
          <a:p>
            <a:pPr>
              <a:lnSpc>
                <a:spcPct val="150000"/>
              </a:lnSpc>
            </a:pPr>
            <a:r>
              <a:rPr lang="en-IN" dirty="0">
                <a:hlinkClick r:id="rId3"/>
              </a:rPr>
              <a:t>https://www.kaggle.com/datasets/blastchar/telco-customer-churn</a:t>
            </a:r>
            <a:endParaRPr lang="en-IN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Presentation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sz="2800" dirty="0">
                <a:latin typeface="Arial" panose="020B0604020202020204" pitchFamily="34" charset="0"/>
                <a:cs typeface="Arial" panose="020B0604020202020204" pitchFamily="34" charset="0"/>
              </a:rPr>
              <a:t>Objective</a:t>
            </a:r>
          </a:p>
          <a:p>
            <a:pPr>
              <a:buFont typeface="Arial" panose="020B0604020202020204" pitchFamily="34" charset="0"/>
              <a:buChar char="•"/>
            </a:pPr>
            <a:r>
              <a:rPr sz="2800" dirty="0">
                <a:latin typeface="Arial" panose="020B0604020202020204" pitchFamily="34" charset="0"/>
                <a:cs typeface="Arial" panose="020B0604020202020204" pitchFamily="34" charset="0"/>
              </a:rPr>
              <a:t>Problem Statement</a:t>
            </a:r>
          </a:p>
          <a:p>
            <a:pPr>
              <a:buFont typeface="Arial" panose="020B0604020202020204" pitchFamily="34" charset="0"/>
              <a:buChar char="•"/>
            </a:pPr>
            <a:r>
              <a:rPr sz="2800" dirty="0">
                <a:latin typeface="Arial" panose="020B0604020202020204" pitchFamily="34" charset="0"/>
                <a:cs typeface="Arial" panose="020B0604020202020204" pitchFamily="34" charset="0"/>
              </a:rPr>
              <a:t>Dataset &amp; Methodology</a:t>
            </a:r>
          </a:p>
          <a:p>
            <a:pPr>
              <a:buFont typeface="Arial" panose="020B0604020202020204" pitchFamily="34" charset="0"/>
              <a:buChar char="•"/>
            </a:pPr>
            <a:r>
              <a:rPr sz="2800" dirty="0">
                <a:latin typeface="Arial" panose="020B0604020202020204" pitchFamily="34" charset="0"/>
                <a:cs typeface="Arial" panose="020B0604020202020204" pitchFamily="34" charset="0"/>
              </a:rPr>
              <a:t>Model Architecture</a:t>
            </a:r>
          </a:p>
          <a:p>
            <a:pPr>
              <a:buFont typeface="Arial" panose="020B0604020202020204" pitchFamily="34" charset="0"/>
              <a:buChar char="•"/>
            </a:pPr>
            <a:r>
              <a:rPr sz="2800" dirty="0">
                <a:latin typeface="Arial" panose="020B0604020202020204" pitchFamily="34" charset="0"/>
                <a:cs typeface="Arial" panose="020B0604020202020204" pitchFamily="34" charset="0"/>
              </a:rPr>
              <a:t>Results &amp; Evaluation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sz="2800" dirty="0">
                <a:latin typeface="Arial" panose="020B0604020202020204" pitchFamily="34" charset="0"/>
                <a:cs typeface="Arial" panose="020B0604020202020204" pitchFamily="34" charset="0"/>
              </a:rPr>
              <a:t>Business Insights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sz="2800" dirty="0">
                <a:latin typeface="Arial" panose="020B0604020202020204" pitchFamily="34" charset="0"/>
                <a:cs typeface="Arial" panose="020B0604020202020204" pitchFamily="34" charset="0"/>
              </a:rPr>
              <a:t>Future Improvements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sz="2800" dirty="0">
                <a:latin typeface="Arial" panose="020B0604020202020204" pitchFamily="34" charset="0"/>
                <a:cs typeface="Arial" panose="020B0604020202020204" pitchFamily="34" charset="0"/>
              </a:rPr>
              <a:t>Conclusion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Objective</a:t>
            </a:r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6647674F-3EFC-8625-7E37-29568667B30A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228600" y="1536174"/>
            <a:ext cx="8686800" cy="378565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400" dirty="0">
                <a:latin typeface="Arial" panose="020B0604020202020204" pitchFamily="34" charset="0"/>
              </a:rPr>
              <a:t>Develop a Machine Learning and Deep Learning based model to predict telecom customer churn accurately.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400" dirty="0">
                <a:latin typeface="Arial" panose="020B0604020202020204" pitchFamily="34" charset="0"/>
              </a:rPr>
              <a:t>Analyze customer behavior and identify key factors influencing customer attrition.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400" dirty="0">
                <a:latin typeface="Arial" panose="020B0604020202020204" pitchFamily="34" charset="0"/>
              </a:rPr>
              <a:t>Help businesses improve customer retention strategies and reduce revenue loss through data-driven insights.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400" dirty="0">
                <a:latin typeface="Arial" panose="020B0604020202020204" pitchFamily="34" charset="0"/>
              </a:rPr>
              <a:t>Compare the performance of multiple Machine Learning and Deep Learning algorithms using evaluation metrics.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400" dirty="0">
                <a:latin typeface="Arial" panose="020B0604020202020204" pitchFamily="34" charset="0"/>
              </a:rPr>
              <a:t>Enable organizations to take proactive actions for customer satisfaction and long-term business growth.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Problem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2800350"/>
          </a:xfrm>
        </p:spPr>
        <p:txBody>
          <a:bodyPr>
            <a:normAutofit/>
          </a:bodyPr>
          <a:lstStyle/>
          <a:p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Customer churn directly impacts telecom company revenue.</a:t>
            </a:r>
          </a:p>
          <a:p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Acquiring new customers is more expensive than retaining existing customers.</a:t>
            </a:r>
          </a:p>
          <a:p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Need an intelligent predictive system to identify high-risk customers early.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Dataset Information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2357438"/>
          </a:xfrm>
        </p:spPr>
        <p:txBody>
          <a:bodyPr>
            <a:normAutofit/>
          </a:bodyPr>
          <a:lstStyle/>
          <a:p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IBM Telco Customer Churn Dataset from Kaggle.</a:t>
            </a:r>
          </a:p>
          <a:p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Contains demographic, service usage, financial, and tenure information.</a:t>
            </a:r>
          </a:p>
          <a:p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Target Variable: Churn (Yes / No).</a:t>
            </a:r>
          </a:p>
          <a:p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Problem Type: Binary Classification.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Approach &amp; Methodology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2786063"/>
          </a:xfrm>
        </p:spPr>
        <p:txBody>
          <a:bodyPr>
            <a:normAutofit/>
          </a:bodyPr>
          <a:lstStyle/>
          <a:p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Performed data preprocessing and cleaning.</a:t>
            </a:r>
          </a:p>
          <a:p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Converted Total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Charges to numeric values.</a:t>
            </a:r>
          </a:p>
          <a:p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Handled missing values using median imputation.</a:t>
            </a:r>
          </a:p>
          <a:p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Applied One-Hot Encoding for categorical variables.</a:t>
            </a:r>
          </a:p>
          <a:p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Scaled numerical features using Standard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Scaler.</a:t>
            </a:r>
          </a:p>
          <a:p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Split dataset into training and testing sets.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Models Implemented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2243138"/>
          </a:xfrm>
        </p:spPr>
        <p:txBody>
          <a:bodyPr>
            <a:normAutofit/>
          </a:bodyPr>
          <a:lstStyle/>
          <a:p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Logistic Regression</a:t>
            </a:r>
          </a:p>
          <a:p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Random Forest Classifier</a:t>
            </a:r>
          </a:p>
          <a:p>
            <a:r>
              <a:rPr sz="2400" dirty="0" err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 Classifier</a:t>
            </a:r>
          </a:p>
          <a:p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Artificial Neural Network (ANN)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Deep Learning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2471738"/>
          </a:xfrm>
        </p:spPr>
        <p:txBody>
          <a:bodyPr>
            <a:normAutofit/>
          </a:bodyPr>
          <a:lstStyle/>
          <a:p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Input layer with customer features.</a:t>
            </a:r>
          </a:p>
          <a:p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Three hidden layers using </a:t>
            </a:r>
            <a:r>
              <a:rPr sz="2400" dirty="0" err="1">
                <a:latin typeface="Arial" panose="020B0604020202020204" pitchFamily="34" charset="0"/>
                <a:cs typeface="Arial" panose="020B0604020202020204" pitchFamily="34" charset="0"/>
              </a:rPr>
              <a:t>ReLU</a:t>
            </a: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 activation.</a:t>
            </a:r>
          </a:p>
          <a:p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Dropout layers used to prevent overfitting.</a:t>
            </a:r>
          </a:p>
          <a:p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Sigmoid activation in output layer.</a:t>
            </a:r>
          </a:p>
          <a:p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Binary Cross entropy loss function with Adam optimizer.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Results &amp; Evaluation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Evaluation Metrics Used:</a:t>
            </a:r>
          </a:p>
          <a:p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• Accuracy Score</a:t>
            </a:r>
          </a:p>
          <a:p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• ROC-AUC Score</a:t>
            </a:r>
          </a:p>
          <a:p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• Confusion Matrix</a:t>
            </a:r>
          </a:p>
          <a:p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• Classification Report</a:t>
            </a:r>
          </a:p>
          <a:p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ML and DL models successfully predicted churn patterns.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7FCEE9-68FC-1C49-E7E0-5CFCAA0961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Customer Churn Prediction Dashboard</a:t>
            </a:r>
            <a:endParaRPr lang="en-IN" sz="3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83F25AF-9B60-8C8C-329D-192C952C56E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57200" y="1300163"/>
            <a:ext cx="8229600" cy="5283199"/>
          </a:xfrm>
        </p:spPr>
      </p:pic>
    </p:spTree>
    <p:extLst>
      <p:ext uri="{BB962C8B-B14F-4D97-AF65-F5344CB8AC3E}">
        <p14:creationId xmlns:p14="http://schemas.microsoft.com/office/powerpoint/2010/main" val="40998939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Key Business Insights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2428875"/>
          </a:xfrm>
        </p:spPr>
        <p:txBody>
          <a:bodyPr>
            <a:normAutofit/>
          </a:bodyPr>
          <a:lstStyle/>
          <a:p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Month-to-month contract customers are more likely to churn.</a:t>
            </a:r>
          </a:p>
          <a:p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Higher monthly charges increase churn probability.</a:t>
            </a:r>
          </a:p>
          <a:p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Customers with longer tenure show lower churn risk.</a:t>
            </a:r>
          </a:p>
          <a:p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Electronic payment users have higher churn tendencies.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Future Improvements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2143125"/>
          </a:xfrm>
        </p:spPr>
        <p:txBody>
          <a:bodyPr>
            <a:normAutofit/>
          </a:bodyPr>
          <a:lstStyle/>
          <a:p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Hyperparameter tuning for better model performance.</a:t>
            </a:r>
          </a:p>
          <a:p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Use SMOTE for class imbalance handling.</a:t>
            </a:r>
          </a:p>
          <a:p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Deploy model using </a:t>
            </a:r>
            <a:r>
              <a:rPr sz="2400" dirty="0" err="1">
                <a:latin typeface="Arial" panose="020B0604020202020204" pitchFamily="34" charset="0"/>
                <a:cs typeface="Arial" panose="020B0604020202020204" pitchFamily="34" charset="0"/>
              </a:rPr>
              <a:t>Streamlit</a:t>
            </a: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 or Flask.</a:t>
            </a:r>
          </a:p>
          <a:p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Integrate explainability using SHAP values.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Machine Learning and Deep Learning can effectively predict telecom customer churn.</a:t>
            </a:r>
          </a:p>
          <a:p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The project helps businesses improve customer retention strategies.</a:t>
            </a:r>
          </a:p>
          <a:p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Predictive analytics can significantly reduce revenue loss.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2243138"/>
          </a:xfrm>
        </p:spPr>
        <p:txBody>
          <a:bodyPr>
            <a:normAutofit/>
          </a:bodyPr>
          <a:lstStyle/>
          <a:p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IBM Telco Customer Churn Dataset – Kaggle</a:t>
            </a:r>
          </a:p>
          <a:p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Scikit-learn Documentation</a:t>
            </a:r>
          </a:p>
          <a:p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TensorFlow / </a:t>
            </a:r>
            <a:r>
              <a:rPr sz="2400" dirty="0" err="1">
                <a:latin typeface="Arial" panose="020B0604020202020204" pitchFamily="34" charset="0"/>
                <a:cs typeface="Arial" panose="020B0604020202020204" pitchFamily="34" charset="0"/>
              </a:rPr>
              <a:t>Keras</a:t>
            </a: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 Documentation</a:t>
            </a:r>
          </a:p>
          <a:p>
            <a:r>
              <a:rPr sz="2400" dirty="0" err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 Documentation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45</TotalTime>
  <Words>445</Words>
  <Application>Microsoft Office PowerPoint</Application>
  <PresentationFormat>On-screen Show (4:3)</PresentationFormat>
  <Paragraphs>74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Customer Churn Prediction</vt:lpstr>
      <vt:lpstr>Presentation Overview</vt:lpstr>
      <vt:lpstr>Objective</vt:lpstr>
      <vt:lpstr>Problem Statement</vt:lpstr>
      <vt:lpstr>Dataset Information</vt:lpstr>
      <vt:lpstr>Approach &amp; Methodology</vt:lpstr>
      <vt:lpstr>Models Implemented</vt:lpstr>
      <vt:lpstr>Deep Learning Architecture</vt:lpstr>
      <vt:lpstr>Results &amp; Evaluation</vt:lpstr>
      <vt:lpstr>Customer Churn Prediction Dashboard</vt:lpstr>
      <vt:lpstr>Key Business Insights</vt:lpstr>
      <vt:lpstr>Future Improvements</vt:lpstr>
      <vt:lpstr>Conclusion</vt:lpstr>
      <vt:lpstr>References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HP</dc:creator>
  <cp:keywords/>
  <dc:description>generated using python-pptx</dc:description>
  <cp:lastModifiedBy>shreeyadash.116@gmail.com</cp:lastModifiedBy>
  <cp:revision>4</cp:revision>
  <dcterms:created xsi:type="dcterms:W3CDTF">2013-01-27T09:14:16Z</dcterms:created>
  <dcterms:modified xsi:type="dcterms:W3CDTF">2026-05-26T15:56:21Z</dcterms:modified>
  <cp:category/>
</cp:coreProperties>
</file>